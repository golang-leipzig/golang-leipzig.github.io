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1800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54991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3263009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36902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31030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44322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5861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5450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9371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29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102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123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5E46D-867E-DDA6-2DE0-17EEE46370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729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921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187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2D5630-0656-D33C-6683-A516F915D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74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67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504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364FD9-A1BD-6007-49F0-A793A2FC95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38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88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7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FFB0DB-DD74-5464-94B9-634526BF2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1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454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3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C301C8-A6E2-A1B4-C8EA-94715FEFE3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147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45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177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2458EA-9716-1A7A-681B-6F2A2ECEDA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745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0197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730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9D1E02-2703-A9DA-D72B-7F9D430A4C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495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753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582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DB343-3507-6D53-D2EB-6EE19CE9A3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800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826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932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B94276-8E98-CFCB-819C-5F3B5BF055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653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321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040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9465E-B222-9F49-528C-C4F67CE070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481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0663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45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8EE427-B323-AF2A-5C5F-24FB5E3E9F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58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024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69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8B8C6D-DDE7-51A3-5DA7-CE72E5099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6517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05992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031173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557527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676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302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61414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89086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85949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8810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58918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46191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7586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060568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4239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312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5863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43539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60200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01738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12180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13748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48735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13282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936761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545595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676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1565886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40137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226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04739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158012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563005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98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48567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41869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3548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720270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7704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33898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4970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8681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5030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759876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978227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8636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1736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34819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0384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78175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43152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9367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818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6013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400358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72605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4733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2171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64725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03627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3585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75827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0082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2044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Only Office NLP Solver</a:t>
            </a:r>
            <a:endParaRPr lang="en-US"/>
          </a:p>
        </p:txBody>
      </p:sp>
      <p:sp>
        <p:nvSpPr>
          <p:cNvPr id="96360260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4825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600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10395" name="Title 1"/>
          <p:cNvSpPr>
            <a:spLocks noGrp="1"/>
          </p:cNvSpPr>
          <p:nvPr>
            <p:ph type="title"/>
          </p:nvPr>
        </p:nvSpPr>
        <p:spPr bwMode="auto">
          <a:xfrm>
            <a:off x="838198" y="663566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Content</a:t>
            </a:r>
            <a:endParaRPr/>
          </a:p>
        </p:txBody>
      </p:sp>
      <p:sp>
        <p:nvSpPr>
          <p:cNvPr id="18785200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339473"/>
            <a:ext cx="10515600" cy="38374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Introducing OnlyOffice and showing the Solver</a:t>
            </a:r>
            <a:endParaRPr/>
          </a:p>
          <a:p>
            <a:pPr>
              <a:defRPr/>
            </a:pPr>
            <a:r>
              <a:rPr/>
              <a:t>Overview architecture, flow of data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Getting formulas and user input in JS</a:t>
            </a:r>
            <a:endParaRPr/>
          </a:p>
          <a:p>
            <a:pPr>
              <a:defRPr/>
            </a:pPr>
            <a:r>
              <a:rPr/>
              <a:t>Preparing Go for WASM, connect to JS</a:t>
            </a:r>
            <a:endParaRPr/>
          </a:p>
          <a:p>
            <a:pPr>
              <a:defRPr/>
            </a:pPr>
            <a:r>
              <a:rPr/>
              <a:t>Dynamic Equations with Tokenizer and Parser -&gt; Eval</a:t>
            </a:r>
            <a:r>
              <a:rPr/>
              <a:t> func</a:t>
            </a:r>
            <a:endParaRPr/>
          </a:p>
          <a:p>
            <a:pPr>
              <a:defRPr/>
            </a:pPr>
            <a:r>
              <a:rPr/>
              <a:t>Finally the Solver. Custom Downhill Simplex</a:t>
            </a: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of the project and next steps</a:t>
            </a:r>
            <a:endParaRPr/>
          </a:p>
        </p:txBody>
      </p:sp>
      <p:pic>
        <p:nvPicPr>
          <p:cNvPr id="236398874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1801337344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481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architecture, flow of data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8050808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333040867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pic>
        <p:nvPicPr>
          <p:cNvPr id="9871500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85837" y="1626133"/>
            <a:ext cx="10220324" cy="3733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986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formulas and user input in JS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16475446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1937797898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949214823" name=""/>
          <p:cNvSpPr txBox="1"/>
          <p:nvPr/>
        </p:nvSpPr>
        <p:spPr bwMode="auto">
          <a:xfrm rot="0" flipH="0" flipV="0">
            <a:off x="1209453" y="2033066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569164403" name=""/>
          <p:cNvSpPr txBox="1"/>
          <p:nvPr/>
        </p:nvSpPr>
        <p:spPr bwMode="auto">
          <a:xfrm rot="0" flipH="0" flipV="0">
            <a:off x="353004" y="1464768"/>
            <a:ext cx="55089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1.Collect Formula (Show in spreadsheet)</a:t>
            </a:r>
            <a:endParaRPr/>
          </a:p>
        </p:txBody>
      </p:sp>
      <p:sp>
        <p:nvSpPr>
          <p:cNvPr id="756752385" name=""/>
          <p:cNvSpPr txBox="1"/>
          <p:nvPr/>
        </p:nvSpPr>
        <p:spPr bwMode="auto">
          <a:xfrm rot="0" flipH="0" flipV="0">
            <a:off x="434036" y="2122236"/>
            <a:ext cx="9276705" cy="3657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Parse Input</a:t>
            </a:r>
            <a:endParaRPr/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"((B28*0.08)+(B29*0.06)+(B30*0.42)+(B31*0.22))"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br>
              <a:rPr/>
            </a:br>
            <a:r>
              <a:rPr/>
              <a:t>And the start params! </a:t>
            </a:r>
            <a:br>
              <a:rPr/>
            </a:b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type StartParamsT struct {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Cell     string  `json:"cell"`    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MinValue float64 `json:"min_value"` 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MaxValue float64 `json:"max_value"`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LimitMin bool    `json:"limit_min"`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LimitMax bool    `json:"limit_max"`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91321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Preparing Go for WASM, connect to JS</a:t>
            </a:r>
            <a:endParaRPr/>
          </a:p>
        </p:txBody>
      </p:sp>
      <p:pic>
        <p:nvPicPr>
          <p:cNvPr id="4150517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1952132752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1389612943" name=""/>
          <p:cNvSpPr txBox="1"/>
          <p:nvPr/>
        </p:nvSpPr>
        <p:spPr bwMode="auto">
          <a:xfrm rot="0" flipH="0" flipV="0">
            <a:off x="838198" y="1503947"/>
            <a:ext cx="7456771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//go:build js &amp;&amp; wasm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+build js,wasm</a:t>
            </a:r>
            <a:b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</a:br>
            <a:endParaRPr/>
          </a:p>
          <a:p>
            <a:pPr>
              <a:defRPr/>
            </a:pP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package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main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func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main() {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</a:t>
            </a: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Keep the program running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c := make(</a:t>
            </a: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chan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struct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{})</a:t>
            </a:r>
            <a:b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</a:t>
            </a: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Register the addOne function to be callable from JavaScript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js.Global().Set(</a:t>
            </a:r>
            <a:r>
              <a:rPr sz="12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"goAddOne"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js.FuncOf(addOneJS))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js.Global().Set(</a:t>
            </a:r>
            <a:r>
              <a:rPr sz="12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"goGetResult"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js.FuncOf(getResultJS))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js.Global().Set(</a:t>
            </a:r>
            <a:r>
              <a:rPr sz="12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"goParseInput"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js.FuncOf(parseInputJS))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js.Global().Set(</a:t>
            </a:r>
            <a:r>
              <a:rPr sz="12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"goCheckStatus"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js.FuncOf(checkStatusJS))</a:t>
            </a:r>
            <a:b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</a:t>
            </a: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Block forever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&lt;-c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}</a:t>
            </a:r>
            <a:endParaRPr/>
          </a:p>
        </p:txBody>
      </p:sp>
      <p:sp>
        <p:nvSpPr>
          <p:cNvPr id="1135698897" name=""/>
          <p:cNvSpPr txBox="1"/>
          <p:nvPr/>
        </p:nvSpPr>
        <p:spPr bwMode="auto">
          <a:xfrm rot="0" flipH="0" flipV="0">
            <a:off x="838198" y="5747016"/>
            <a:ext cx="577395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$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GOOS=js GOARCH=wasm go build -o main.wasm .</a:t>
            </a:r>
            <a:endParaRPr/>
          </a:p>
        </p:txBody>
      </p:sp>
      <p:sp>
        <p:nvSpPr>
          <p:cNvPr id="954978178" name=""/>
          <p:cNvSpPr/>
          <p:nvPr/>
        </p:nvSpPr>
        <p:spPr bwMode="auto">
          <a:xfrm>
            <a:off x="9542907" y="2514240"/>
            <a:ext cx="1755811" cy="9147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//go:build !wasm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+build !wasm</a:t>
            </a:r>
            <a:br>
              <a:rPr sz="12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</a:br>
            <a:endParaRPr/>
          </a:p>
          <a:p>
            <a:pPr>
              <a:defRPr/>
            </a:pP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package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main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398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Preparing Go for WASM, connect to JS</a:t>
            </a:r>
            <a:endParaRPr/>
          </a:p>
        </p:txBody>
      </p:sp>
      <p:pic>
        <p:nvPicPr>
          <p:cNvPr id="16653401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924365751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1742895661" name=""/>
          <p:cNvSpPr/>
          <p:nvPr/>
        </p:nvSpPr>
        <p:spPr bwMode="auto">
          <a:xfrm>
            <a:off x="951720" y="1360713"/>
            <a:ext cx="438181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800000"/>
                </a:solidFill>
                <a:latin typeface="Fira Code"/>
                <a:ea typeface="Fira Code"/>
                <a:cs typeface="Fira Code"/>
              </a:rPr>
              <a:t>&lt;script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1200" b="0" i="0" u="none">
                <a:solidFill>
                  <a:srgbClr val="E50000"/>
                </a:solidFill>
                <a:latin typeface="Fira Code"/>
                <a:ea typeface="Fira Code"/>
                <a:cs typeface="Fira Code"/>
              </a:rPr>
              <a:t>src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=</a:t>
            </a: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"scripts/wasm_exec.js"</a:t>
            </a:r>
            <a:r>
              <a:rPr sz="1200" b="0" i="0" u="none">
                <a:solidFill>
                  <a:srgbClr val="800000"/>
                </a:solidFill>
                <a:latin typeface="Fira Code"/>
                <a:ea typeface="Fira Code"/>
                <a:cs typeface="Fira Code"/>
              </a:rPr>
              <a:t>&gt;&lt;/script&gt;</a:t>
            </a:r>
            <a:endParaRPr/>
          </a:p>
        </p:txBody>
      </p:sp>
      <p:sp>
        <p:nvSpPr>
          <p:cNvPr id="1735797499" name=""/>
          <p:cNvSpPr txBox="1"/>
          <p:nvPr/>
        </p:nvSpPr>
        <p:spPr bwMode="auto">
          <a:xfrm rot="0" flipH="0" flipV="0">
            <a:off x="649159" y="2153130"/>
            <a:ext cx="10191148" cy="4480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//go-script.js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function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() {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"use strict"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let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wasmReady =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false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Load Go WASM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async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function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loadWasm() {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try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{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const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go =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new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Go();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const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result =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await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WebAssembly.instantiateStreaming(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fetch(</a:t>
            </a:r>
            <a:r>
              <a:rPr sz="8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"go/main.wasm"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),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go.importObject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);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</a:t>
            </a: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Run the Go program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go.run(result.instance);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wasmReady =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true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}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catch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(err) {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console.error(</a:t>
            </a:r>
            <a:r>
              <a:rPr sz="8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"WASM load error:"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err);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}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}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Initialize WASM when plugin is ready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window.addEventListener(</a:t>
            </a:r>
            <a:r>
              <a:rPr sz="800" b="0" i="0" u="none">
                <a:solidFill>
                  <a:srgbClr val="A31515"/>
                </a:solidFill>
                <a:latin typeface="Fira Code"/>
                <a:ea typeface="Fira Code"/>
                <a:cs typeface="Fira Code"/>
              </a:rPr>
              <a:t>"DOMContentLoaded"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sz="8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function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() {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</a:t>
            </a: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Wait a bit for Asc.plugin to be available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setTimeout(loadWasm, </a:t>
            </a:r>
            <a:r>
              <a:rPr sz="800" b="0" i="0" u="none">
                <a:solidFill>
                  <a:srgbClr val="098658"/>
                </a:solidFill>
                <a:latin typeface="Fira Code"/>
                <a:ea typeface="Fira Code"/>
                <a:cs typeface="Fira Code"/>
              </a:rPr>
              <a:t>100</a:t>
            </a: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);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});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</a:t>
            </a:r>
            <a:r>
              <a:rPr sz="800" b="0" i="0" u="none">
                <a:solidFill>
                  <a:srgbClr val="008000"/>
                </a:solidFill>
                <a:latin typeface="Fira Code"/>
                <a:ea typeface="Fira Code"/>
                <a:cs typeface="Fira Code"/>
              </a:rPr>
              <a:t>// Also expose loadWasm for manual initialization if needed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window.loadGoWasm = loadWasm;</a:t>
            </a:r>
            <a:endParaRPr sz="800"/>
          </a:p>
          <a:p>
            <a:pPr>
              <a:defRPr/>
            </a:pPr>
            <a: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})();</a:t>
            </a:r>
            <a:br>
              <a:rPr sz="8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</a:br>
            <a:endParaRPr sz="800"/>
          </a:p>
        </p:txBody>
      </p:sp>
      <p:sp>
        <p:nvSpPr>
          <p:cNvPr id="1292211426" name=""/>
          <p:cNvSpPr/>
          <p:nvPr/>
        </p:nvSpPr>
        <p:spPr bwMode="auto">
          <a:xfrm>
            <a:off x="7268263" y="3204510"/>
            <a:ext cx="3819068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window.goParseInput(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        res.targetFormula,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        paramsJSON,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        iterations.toString(),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        sideConditionsJSON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             );</a:t>
            </a:r>
            <a:endParaRPr/>
          </a:p>
        </p:txBody>
      </p:sp>
      <p:sp>
        <p:nvSpPr>
          <p:cNvPr id="999906136" name=""/>
          <p:cNvSpPr/>
          <p:nvPr/>
        </p:nvSpPr>
        <p:spPr bwMode="auto">
          <a:xfrm>
            <a:off x="951720" y="1635393"/>
            <a:ext cx="438181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800000"/>
                </a:solidFill>
                <a:latin typeface="Fira Code"/>
                <a:ea typeface="Fira Code"/>
                <a:cs typeface="Fira Code"/>
              </a:rPr>
              <a:t>&lt;script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1200" b="0" i="0" u="none">
                <a:solidFill>
                  <a:srgbClr val="E50000"/>
                </a:solidFill>
                <a:latin typeface="Fira Code"/>
                <a:ea typeface="Fira Code"/>
                <a:cs typeface="Fira Code"/>
              </a:rPr>
              <a:t>src</a:t>
            </a:r>
            <a:r>
              <a:rPr sz="1200" b="0" i="0" u="none">
                <a:solidFill>
                  <a:srgbClr val="000000"/>
                </a:solidFill>
                <a:latin typeface="Fira Code"/>
                <a:ea typeface="Fira Code"/>
                <a:cs typeface="Fira Code"/>
              </a:rPr>
              <a:t>=</a:t>
            </a:r>
            <a:r>
              <a:rPr sz="1200" b="0" i="0" u="none">
                <a:solidFill>
                  <a:srgbClr val="0000FF"/>
                </a:solidFill>
                <a:latin typeface="Fira Code"/>
                <a:ea typeface="Fira Code"/>
                <a:cs typeface="Fira Code"/>
              </a:rPr>
              <a:t>"scripts/go-script.js"</a:t>
            </a:r>
            <a:r>
              <a:rPr sz="1200" b="0" i="0" u="none">
                <a:solidFill>
                  <a:srgbClr val="800000"/>
                </a:solidFill>
                <a:latin typeface="Fira Code"/>
                <a:ea typeface="Fira Code"/>
                <a:cs typeface="Fira Code"/>
              </a:rPr>
              <a:t>&gt;&lt;/script&gt;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3586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Equations with Tokenizer and Parser -&gt; Eval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func</a:t>
            </a:r>
            <a:endParaRPr/>
          </a:p>
        </p:txBody>
      </p:sp>
      <p:pic>
        <p:nvPicPr>
          <p:cNvPr id="9394158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987101552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956915177" name=""/>
          <p:cNvSpPr txBox="1"/>
          <p:nvPr/>
        </p:nvSpPr>
        <p:spPr bwMode="auto">
          <a:xfrm rot="0" flipH="0" flipV="0">
            <a:off x="833256" y="1760923"/>
            <a:ext cx="955892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The Problem: We get a string, and have </a:t>
            </a:r>
            <a:r>
              <a:rPr b="1"/>
              <a:t>no chance to know the equation at compile time.</a:t>
            </a:r>
            <a:endParaRPr b="1"/>
          </a:p>
        </p:txBody>
      </p:sp>
      <p:sp>
        <p:nvSpPr>
          <p:cNvPr id="728101415" name=""/>
          <p:cNvSpPr txBox="1"/>
          <p:nvPr/>
        </p:nvSpPr>
        <p:spPr bwMode="auto">
          <a:xfrm rot="0" flipH="0" flipV="0">
            <a:off x="3465182" y="2905484"/>
            <a:ext cx="66314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/>
              <a:t>Input = </a:t>
            </a:r>
            <a:r>
              <a:rPr sz="2400" b="1"/>
              <a:t>"(4-B10*112^2)"</a:t>
            </a:r>
            <a:endParaRPr b="1"/>
          </a:p>
        </p:txBody>
      </p:sp>
      <p:sp>
        <p:nvSpPr>
          <p:cNvPr id="987368472" name=""/>
          <p:cNvSpPr txBox="1"/>
          <p:nvPr/>
        </p:nvSpPr>
        <p:spPr bwMode="auto">
          <a:xfrm rot="0" flipH="0" flipV="0">
            <a:off x="905292" y="2193149"/>
            <a:ext cx="556252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We have to build the evaluation function for the equation dynamically at runtime</a:t>
            </a:r>
            <a:r>
              <a:rPr lang="de-DE"/>
              <a:t> instead</a:t>
            </a:r>
            <a:endParaRPr/>
          </a:p>
        </p:txBody>
      </p:sp>
      <p:sp>
        <p:nvSpPr>
          <p:cNvPr id="1354905021" name=""/>
          <p:cNvSpPr txBox="1"/>
          <p:nvPr/>
        </p:nvSpPr>
        <p:spPr bwMode="auto">
          <a:xfrm rot="0" flipH="0" flipV="0">
            <a:off x="1133318" y="3271605"/>
            <a:ext cx="151743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 </a:t>
            </a:r>
            <a:endParaRPr/>
          </a:p>
          <a:p>
            <a:pPr algn="l">
              <a:defRPr/>
            </a:pPr>
            <a:endParaRPr/>
          </a:p>
        </p:txBody>
      </p:sp>
      <p:sp>
        <p:nvSpPr>
          <p:cNvPr id="497322259" name=""/>
          <p:cNvSpPr txBox="1"/>
          <p:nvPr/>
        </p:nvSpPr>
        <p:spPr bwMode="auto">
          <a:xfrm rot="0" flipH="0" flipV="0">
            <a:off x="841028" y="3321743"/>
            <a:ext cx="210202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First step tokenize!</a:t>
            </a:r>
            <a:endParaRPr/>
          </a:p>
        </p:txBody>
      </p:sp>
      <p:sp>
        <p:nvSpPr>
          <p:cNvPr id="1306522439" name=""/>
          <p:cNvSpPr txBox="1"/>
          <p:nvPr/>
        </p:nvSpPr>
        <p:spPr bwMode="auto">
          <a:xfrm rot="0" flipH="0" flipV="0">
            <a:off x="833256" y="3848011"/>
            <a:ext cx="477878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"(4-B10*112^2)" → [(, 4, -, B10, *, 112, ^, 2, )]</a:t>
            </a:r>
            <a:endParaRPr/>
          </a:p>
        </p:txBody>
      </p:sp>
      <p:sp>
        <p:nvSpPr>
          <p:cNvPr id="898390199" name=""/>
          <p:cNvSpPr txBox="1"/>
          <p:nvPr/>
        </p:nvSpPr>
        <p:spPr bwMode="auto">
          <a:xfrm rot="0" flipH="0" flipV="0">
            <a:off x="7421184" y="3017405"/>
            <a:ext cx="4464230" cy="3139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BinaryOp(-)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/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/  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Num(4)   BinaryOp(*)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/  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/    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Var(B10)   BinaryOp(^)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       / 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      /      \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  Num(112)  Num(2)</a:t>
            </a:r>
            <a:endParaRPr sz="2000"/>
          </a:p>
        </p:txBody>
      </p:sp>
      <p:sp>
        <p:nvSpPr>
          <p:cNvPr id="395064432" name=""/>
          <p:cNvSpPr txBox="1"/>
          <p:nvPr/>
        </p:nvSpPr>
        <p:spPr bwMode="auto">
          <a:xfrm rot="0" flipH="0" flipV="0">
            <a:off x="905292" y="4410315"/>
            <a:ext cx="4961740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Second step is </a:t>
            </a:r>
            <a:r>
              <a:rPr lang="de-DE"/>
              <a:t>building the node tree structure,</a:t>
            </a:r>
            <a:endParaRPr lang="de-DE"/>
          </a:p>
          <a:p>
            <a:pPr>
              <a:defRPr/>
            </a:pPr>
            <a:r>
              <a:rPr lang="de-DE"/>
              <a:t> higher index gets evaluated first!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2070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Solver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2043908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9" y="137271"/>
            <a:ext cx="526295" cy="526295"/>
          </a:xfrm>
          <a:prstGeom prst="rect">
            <a:avLst/>
          </a:prstGeom>
        </p:spPr>
      </p:pic>
      <p:sp>
        <p:nvSpPr>
          <p:cNvPr id="591025093" name=""/>
          <p:cNvSpPr txBox="1"/>
          <p:nvPr/>
        </p:nvSpPr>
        <p:spPr bwMode="auto">
          <a:xfrm rot="0" flipH="0" flipV="0">
            <a:off x="697184" y="137271"/>
            <a:ext cx="1708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1948981698" name=""/>
          <p:cNvSpPr txBox="1"/>
          <p:nvPr/>
        </p:nvSpPr>
        <p:spPr bwMode="auto">
          <a:xfrm rot="0" flipH="0" flipV="0">
            <a:off x="1164852" y="5920107"/>
            <a:ext cx="618072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203701168" name=""/>
          <p:cNvSpPr txBox="1"/>
          <p:nvPr/>
        </p:nvSpPr>
        <p:spPr bwMode="auto">
          <a:xfrm rot="0" flipH="0" flipV="0">
            <a:off x="697183" y="1621676"/>
            <a:ext cx="10742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The solver itself is nothing more than trying out a lot of possible values for all parameters in a smart way!</a:t>
            </a:r>
            <a:endParaRPr/>
          </a:p>
        </p:txBody>
      </p:sp>
      <p:sp>
        <p:nvSpPr>
          <p:cNvPr id="1634071278" name=""/>
          <p:cNvSpPr txBox="1"/>
          <p:nvPr/>
        </p:nvSpPr>
        <p:spPr bwMode="auto">
          <a:xfrm rot="0" flipH="0" flipV="0">
            <a:off x="853947" y="2623552"/>
            <a:ext cx="1369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46340231" name=""/>
          <p:cNvSpPr txBox="1"/>
          <p:nvPr/>
        </p:nvSpPr>
        <p:spPr bwMode="auto">
          <a:xfrm rot="0" flipH="0" flipV="0">
            <a:off x="697183" y="2349232"/>
            <a:ext cx="1057674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I used a custom variation of the nelder mead downhill simplex, so that we can theoretically fit any function that we can calculate</a:t>
            </a:r>
            <a:endParaRPr/>
          </a:p>
        </p:txBody>
      </p:sp>
      <p:sp>
        <p:nvSpPr>
          <p:cNvPr id="1595857530" name=""/>
          <p:cNvSpPr txBox="1"/>
          <p:nvPr/>
        </p:nvSpPr>
        <p:spPr bwMode="auto">
          <a:xfrm rot="0" flipH="0" flipV="0">
            <a:off x="697183" y="3475033"/>
            <a:ext cx="355074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There are 2 important things left:. </a:t>
            </a:r>
            <a:endParaRPr/>
          </a:p>
        </p:txBody>
      </p:sp>
      <p:sp>
        <p:nvSpPr>
          <p:cNvPr id="2130855324" name=""/>
          <p:cNvSpPr txBox="1"/>
          <p:nvPr/>
        </p:nvSpPr>
        <p:spPr bwMode="auto">
          <a:xfrm rot="0" flipH="0" flipV="0">
            <a:off x="1909950" y="4996447"/>
            <a:ext cx="692213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The algorithm itself</a:t>
            </a:r>
            <a:r>
              <a:rPr/>
              <a:t>, and a good </a:t>
            </a:r>
            <a:r>
              <a:rPr b="1"/>
              <a:t>starting simplex</a:t>
            </a:r>
            <a:r>
              <a:rPr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0439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Solver</a:t>
            </a:r>
            <a:r>
              <a:rPr lang="de-DE" sz="4400"/>
              <a:t> – The </a:t>
            </a:r>
            <a:r>
              <a:rPr lang="de-DE" sz="4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algorithm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5296042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8" y="137270"/>
            <a:ext cx="526294" cy="526294"/>
          </a:xfrm>
          <a:prstGeom prst="rect">
            <a:avLst/>
          </a:prstGeom>
        </p:spPr>
      </p:pic>
      <p:sp>
        <p:nvSpPr>
          <p:cNvPr id="2042276709" name=""/>
          <p:cNvSpPr txBox="1"/>
          <p:nvPr/>
        </p:nvSpPr>
        <p:spPr bwMode="auto">
          <a:xfrm rot="0" flipH="0" flipV="0">
            <a:off x="697183" y="137270"/>
            <a:ext cx="1708110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pic>
        <p:nvPicPr>
          <p:cNvPr id="203660256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894489" y="1534680"/>
            <a:ext cx="7839436" cy="4385427"/>
          </a:xfrm>
          <a:prstGeom prst="rect">
            <a:avLst/>
          </a:prstGeom>
        </p:spPr>
      </p:pic>
      <p:sp>
        <p:nvSpPr>
          <p:cNvPr id="963385621" name=""/>
          <p:cNvSpPr txBox="1"/>
          <p:nvPr/>
        </p:nvSpPr>
        <p:spPr bwMode="auto">
          <a:xfrm rot="0" flipH="0" flipV="0">
            <a:off x="1164852" y="5920107"/>
            <a:ext cx="6180361" cy="640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https://en.wikipedia.org/wiki/Nelder%E2%80%93Mead_method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575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Solver</a:t>
            </a:r>
            <a:r>
              <a:rPr lang="de-DE" sz="4400"/>
              <a:t> – The </a:t>
            </a:r>
            <a:r>
              <a:rPr lang="de-DE" sz="4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algorithm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19593477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8" y="137270"/>
            <a:ext cx="526294" cy="526294"/>
          </a:xfrm>
          <a:prstGeom prst="rect">
            <a:avLst/>
          </a:prstGeom>
        </p:spPr>
      </p:pic>
      <p:sp>
        <p:nvSpPr>
          <p:cNvPr id="1885375081" name=""/>
          <p:cNvSpPr txBox="1"/>
          <p:nvPr/>
        </p:nvSpPr>
        <p:spPr bwMode="auto">
          <a:xfrm rot="0" flipH="0" flipV="0">
            <a:off x="697183" y="137270"/>
            <a:ext cx="1708110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pic>
        <p:nvPicPr>
          <p:cNvPr id="5172805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894489" y="1534680"/>
            <a:ext cx="7839436" cy="4385427"/>
          </a:xfrm>
          <a:prstGeom prst="rect">
            <a:avLst/>
          </a:prstGeom>
        </p:spPr>
      </p:pic>
      <p:sp>
        <p:nvSpPr>
          <p:cNvPr id="1837761274" name=""/>
          <p:cNvSpPr txBox="1"/>
          <p:nvPr/>
        </p:nvSpPr>
        <p:spPr bwMode="auto">
          <a:xfrm rot="0" flipH="0" flipV="0">
            <a:off x="1164852" y="5920107"/>
            <a:ext cx="6180361" cy="640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https://en.wikipedia.org/wiki/Nelder%E2%80%93Mead_method</a:t>
            </a:r>
            <a:endParaRPr/>
          </a:p>
        </p:txBody>
      </p:sp>
      <p:sp>
        <p:nvSpPr>
          <p:cNvPr id="1668684245" name=""/>
          <p:cNvSpPr txBox="1"/>
          <p:nvPr/>
        </p:nvSpPr>
        <p:spPr bwMode="auto">
          <a:xfrm rot="0" flipH="0" flipV="0">
            <a:off x="6916213" y="3997435"/>
            <a:ext cx="4816519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 sz="2600">
                <a:solidFill>
                  <a:srgbClr val="FF0000"/>
                </a:solidFill>
              </a:rPr>
              <a:t>Question for Golang audience how to imrove this?</a:t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id="167388151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324473" y="4881715"/>
            <a:ext cx="2257425" cy="194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7893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Solver</a:t>
            </a:r>
            <a:r>
              <a:rPr lang="de-DE" sz="4400"/>
              <a:t> – The starting simplex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18779744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8" y="137270"/>
            <a:ext cx="526294" cy="526294"/>
          </a:xfrm>
          <a:prstGeom prst="rect">
            <a:avLst/>
          </a:prstGeom>
        </p:spPr>
      </p:pic>
      <p:sp>
        <p:nvSpPr>
          <p:cNvPr id="1969818421" name=""/>
          <p:cNvSpPr txBox="1"/>
          <p:nvPr/>
        </p:nvSpPr>
        <p:spPr bwMode="auto">
          <a:xfrm rot="0" flipH="0" flipV="0">
            <a:off x="697183" y="137270"/>
            <a:ext cx="1708110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955511453" name=""/>
          <p:cNvSpPr txBox="1"/>
          <p:nvPr/>
        </p:nvSpPr>
        <p:spPr bwMode="auto">
          <a:xfrm rot="0" flipH="0" flipV="0">
            <a:off x="1164852" y="5920107"/>
            <a:ext cx="6180361" cy="640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https://en.wikipedia.org/wiki/Nelder%E2%80%93Mead_method</a:t>
            </a:r>
            <a:endParaRPr/>
          </a:p>
        </p:txBody>
      </p:sp>
      <p:sp>
        <p:nvSpPr>
          <p:cNvPr id="1540751843" name=""/>
          <p:cNvSpPr txBox="1"/>
          <p:nvPr/>
        </p:nvSpPr>
        <p:spPr bwMode="auto">
          <a:xfrm rot="0" flipH="0" flipV="0">
            <a:off x="838198" y="1342512"/>
            <a:ext cx="851886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We use the starting value from the user to specify the range of the starting simplex</a:t>
            </a:r>
            <a:endParaRPr/>
          </a:p>
        </p:txBody>
      </p:sp>
      <p:sp>
        <p:nvSpPr>
          <p:cNvPr id="1458197190" name=""/>
          <p:cNvSpPr txBox="1"/>
          <p:nvPr/>
        </p:nvSpPr>
        <p:spPr bwMode="auto">
          <a:xfrm rot="0" flipH="0" flipV="0">
            <a:off x="1121315" y="2423026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2858566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54210" y="1887386"/>
            <a:ext cx="4648477" cy="3707631"/>
          </a:xfrm>
          <a:prstGeom prst="rect">
            <a:avLst/>
          </a:prstGeom>
        </p:spPr>
      </p:pic>
      <p:pic>
        <p:nvPicPr>
          <p:cNvPr id="47728757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000789" y="1708632"/>
            <a:ext cx="4762499" cy="3812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7546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63566"/>
            <a:ext cx="10515600" cy="6971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Next steps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4934245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888" y="137271"/>
            <a:ext cx="526294" cy="526294"/>
          </a:xfrm>
          <a:prstGeom prst="rect">
            <a:avLst/>
          </a:prstGeom>
        </p:spPr>
      </p:pic>
      <p:sp>
        <p:nvSpPr>
          <p:cNvPr id="1604502902" name=""/>
          <p:cNvSpPr txBox="1"/>
          <p:nvPr/>
        </p:nvSpPr>
        <p:spPr bwMode="auto">
          <a:xfrm rot="0" flipH="0" flipV="0">
            <a:off x="697183" y="137271"/>
            <a:ext cx="1708110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karlbreuer.com</a:t>
            </a:r>
            <a:endParaRPr/>
          </a:p>
        </p:txBody>
      </p:sp>
      <p:sp>
        <p:nvSpPr>
          <p:cNvPr id="1812805319" name=""/>
          <p:cNvSpPr txBox="1"/>
          <p:nvPr/>
        </p:nvSpPr>
        <p:spPr bwMode="auto">
          <a:xfrm rot="0" flipH="0" flipV="0">
            <a:off x="887368" y="1721184"/>
            <a:ext cx="9143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24468628" name=""/>
          <p:cNvSpPr txBox="1"/>
          <p:nvPr/>
        </p:nvSpPr>
        <p:spPr bwMode="auto">
          <a:xfrm rot="0" flipH="0" flipV="0">
            <a:off x="615076" y="1721184"/>
            <a:ext cx="10961844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 sz="2200"/>
              <a:t>Add an addition </a:t>
            </a:r>
            <a:r>
              <a:rPr lang="de-DE" sz="2200" b="1"/>
              <a:t>linear </a:t>
            </a:r>
            <a:r>
              <a:rPr lang="de-DE" sz="2200"/>
              <a:t>solver, that works better with linear problems and side condition!</a:t>
            </a:r>
            <a:endParaRPr sz="2200"/>
          </a:p>
        </p:txBody>
      </p:sp>
      <p:sp>
        <p:nvSpPr>
          <p:cNvPr id="1745297862" name=""/>
          <p:cNvSpPr txBox="1"/>
          <p:nvPr/>
        </p:nvSpPr>
        <p:spPr bwMode="auto">
          <a:xfrm rot="0" flipH="0" flipV="0">
            <a:off x="615076" y="2840789"/>
            <a:ext cx="6225179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 sz="2200"/>
              <a:t>Listen for actual user input. Bugs and use-cases!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2026-01-27T15:39:10Z</dcterms:modified>
</cp:coreProperties>
</file>